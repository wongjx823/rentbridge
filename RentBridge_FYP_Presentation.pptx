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4" r:id="rId9"/>
    <p:sldId id="261" r:id="rId10"/>
    <p:sldId id="262" r:id="rId11"/>
    <p:sldId id="265" r:id="rId12"/>
    <p:sldId id="267" r:id="rId13"/>
    <p:sldId id="268" r:id="rId14"/>
    <p:sldId id="275" r:id="rId15"/>
    <p:sldId id="278" r:id="rId16"/>
    <p:sldId id="269" r:id="rId17"/>
    <p:sldId id="279" r:id="rId18"/>
    <p:sldId id="277" r:id="rId19"/>
    <p:sldId id="270" r:id="rId20"/>
    <p:sldId id="276" r:id="rId21"/>
    <p:sldId id="280" r:id="rId22"/>
    <p:sldId id="271" r:id="rId23"/>
    <p:sldId id="272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presentation walks through the enhancements I made to RentBridge this development cycle, how I tested them, and the conclusion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parts: a quick recap, then the enhancements, the testing approach, and finally the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RentBridge serves four roles. Testers act mainly as a tenant or a landlord; agent and admin are internal staff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enhancement areas — I'll take each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than approximate month arithmetic, GPT-4o reads the official UTeM calendar PDF and extracts the semester dates. A human confirms them before they're saved, so durations land on the real academic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pinpoint replaces a raw Google Maps link with a proper pin picker. Confirming the pin fills in the address automatically, and the pin and link stay in sync so they never contradict.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Landlords and students can express who a place or a room-share is for. Race is multi-select. Everything is optional and defaults to 'Any'.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Previously co-tenants without an account had to wet-sign a printed copy, so their signature never reached the PDF. Now everyone signs in-system — account-less co-tenants via a secure link — and all signatures merge into one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spans six types. Unit tests cover isolated logic. Integration tests run PHPUnit against a real test database, exercising the signing flow and the audit triggers together. Playwright provides end-to-end browser tests. The database migrations are applied and verified. Then user acceptance testing uses role-based task checklists, and usability is measured with the USE questionnaire and the SUS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migrations are applied and verified — the audit log has nine triggers, and the multi-role table backfilled 273 rows from existing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acceptance testing uses role-based task lists, and usability is measured with the standard USE questionnaire and the System Usability Scale, all delivered through a Google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summary: smarter listing input, preference-based matching, fairer discovery, more trustworthy data, and a testable, verified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— I'm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C52"/>
          </a:solidFill>
        </p:spPr>
      </p:sp>
      <p:sp>
        <p:nvSpPr>
          <p:cNvPr id="3" name="Shape 1"/>
          <p:cNvSpPr/>
          <p:nvPr/>
        </p:nvSpPr>
        <p:spPr>
          <a:xfrm>
            <a:off x="685800" y="640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B57"/>
          </a:solidFill>
        </p:spPr>
      </p:sp>
      <p:sp>
        <p:nvSpPr>
          <p:cNvPr id="4" name="Text 2"/>
          <p:cNvSpPr txBox="1"/>
          <p:nvPr/>
        </p:nvSpPr>
        <p:spPr>
          <a:xfrm>
            <a:off x="685800" y="6400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58368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RentBridge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0789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RentBridge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Enhancements · Testing · Conclusion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rental platform for UTeM students, landlords &amp; agents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883150"/>
            <a:ext cx="384048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927600"/>
            <a:ext cx="10058400" cy="119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Year Project (PSM 2)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 WONG JIA XI    Matric:  B032310495 </a:t>
            </a:r>
            <a:endParaRPr lang="en-US" sz="13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</a:t>
            </a:r>
            <a:r>
              <a:rPr lang="en-US" alt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TS. DR. NOR AIZA BINTI MOKETAR</a:t>
            </a:r>
            <a:endParaRPr lang="en-US" altLang="en-US" sz="13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Examiner: TS. MASLITA ABD. AZIZ</a:t>
            </a:r>
            <a:endParaRPr lang="en-US" altLang="en-US" sz="13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1956816"/>
            <a:ext cx="530352" cy="530352"/>
          </a:xfrm>
          <a:prstGeom prst="ellipse">
            <a:avLst/>
          </a:prstGeom>
          <a:solidFill>
            <a:srgbClr val="2E8B57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51560" y="195681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6537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Recap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402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RentBridge is &amp; the roles it serves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51560" y="3072384"/>
            <a:ext cx="530352" cy="530352"/>
          </a:xfrm>
          <a:prstGeom prst="ellipse">
            <a:avLst/>
          </a:prstGeom>
          <a:solidFill>
            <a:srgbClr val="0F2C52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051560" y="307238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8094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Enhancements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355848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new features built this cycle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968496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51560" y="4187952"/>
            <a:ext cx="530352" cy="530352"/>
          </a:xfrm>
          <a:prstGeom prst="ellipse">
            <a:avLst/>
          </a:prstGeom>
          <a:solidFill>
            <a:srgbClr val="2E8B57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051560" y="418795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09651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471416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tests, migrations &amp; UAT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084064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51560" y="5303520"/>
            <a:ext cx="530352" cy="530352"/>
          </a:xfrm>
          <a:prstGeom prst="ellipse">
            <a:avLst/>
          </a:prstGeom>
          <a:solidFill>
            <a:srgbClr val="0F2C52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051560" y="53035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2120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5869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achieved, end to end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745740" y="575945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RentBridge?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810510" y="1417320"/>
            <a:ext cx="8981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end-to-end platform that connects UTeM students with verified off-campus rooms — from browsing and agent-inspected listings to in-system contract e-signing.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43200"/>
            <a:ext cx="0" cy="0"/>
          </a:xfrm>
          <a:prstGeom prst="rect">
            <a:avLst/>
          </a:prstGeom>
          <a:noFill/>
        </p:spPr>
      </p:sp>
      <p:sp>
        <p:nvSpPr>
          <p:cNvPr id="7" name="Shape 5"/>
          <p:cNvSpPr/>
          <p:nvPr/>
        </p:nvSpPr>
        <p:spPr>
          <a:xfrm>
            <a:off x="1600200" y="2788920"/>
            <a:ext cx="731520" cy="731520"/>
          </a:xfrm>
          <a:prstGeom prst="ellipse">
            <a:avLst/>
          </a:prstGeom>
          <a:solidFill>
            <a:srgbClr val="2E8B57"/>
          </a:solidFill>
        </p:spPr>
      </p:sp>
      <p:sp>
        <p:nvSpPr>
          <p:cNvPr id="8" name="Text 6"/>
          <p:cNvSpPr txBox="1"/>
          <p:nvPr/>
        </p:nvSpPr>
        <p:spPr>
          <a:xfrm>
            <a:off x="1600200" y="2788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Tenant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114800"/>
            <a:ext cx="224942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searching, chatting, signing &amp; finding housemates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246888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743200"/>
            <a:ext cx="0" cy="0"/>
          </a:xfrm>
          <a:prstGeom prst="rect">
            <a:avLst/>
          </a:prstGeom>
          <a:noFill/>
        </p:spPr>
      </p:sp>
      <p:sp>
        <p:nvSpPr>
          <p:cNvPr id="13" name="Shape 11"/>
          <p:cNvSpPr/>
          <p:nvPr/>
        </p:nvSpPr>
        <p:spPr>
          <a:xfrm>
            <a:off x="4389120" y="2788920"/>
            <a:ext cx="731520" cy="731520"/>
          </a:xfrm>
          <a:prstGeom prst="ellipse">
            <a:avLst/>
          </a:prstGeom>
          <a:solidFill>
            <a:srgbClr val="0F2C52"/>
          </a:solidFill>
        </p:spPr>
      </p:sp>
      <p:sp>
        <p:nvSpPr>
          <p:cNvPr id="14" name="Text 12"/>
          <p:cNvSpPr txBox="1"/>
          <p:nvPr/>
        </p:nvSpPr>
        <p:spPr>
          <a:xfrm>
            <a:off x="4389120" y="2788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6576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Landlord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4114800"/>
            <a:ext cx="224942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Lists property, sets preferences, signs the tenancy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743200"/>
            <a:ext cx="0" cy="0"/>
          </a:xfrm>
          <a:prstGeom prst="rect">
            <a:avLst/>
          </a:prstGeom>
          <a:noFill/>
        </p:spPr>
      </p:sp>
      <p:sp>
        <p:nvSpPr>
          <p:cNvPr id="19" name="Shape 17"/>
          <p:cNvSpPr/>
          <p:nvPr/>
        </p:nvSpPr>
        <p:spPr>
          <a:xfrm>
            <a:off x="7178040" y="2788920"/>
            <a:ext cx="731520" cy="731520"/>
          </a:xfrm>
          <a:prstGeom prst="ellipse">
            <a:avLst/>
          </a:prstGeom>
          <a:solidFill>
            <a:srgbClr val="1F6D45"/>
          </a:solidFill>
        </p:spPr>
      </p:sp>
      <p:sp>
        <p:nvSpPr>
          <p:cNvPr id="20" name="Text 18"/>
          <p:cNvSpPr txBox="1"/>
          <p:nvPr/>
        </p:nvSpPr>
        <p:spPr>
          <a:xfrm>
            <a:off x="7178040" y="2788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6576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114800"/>
            <a:ext cx="224942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Inspects listings, prepares &amp; co-signs contracts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06840" y="246888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0" y="2743200"/>
            <a:ext cx="0" cy="0"/>
          </a:xfrm>
          <a:prstGeom prst="rect">
            <a:avLst/>
          </a:prstGeom>
          <a:noFill/>
        </p:spPr>
      </p:sp>
      <p:sp>
        <p:nvSpPr>
          <p:cNvPr id="25" name="Shape 23"/>
          <p:cNvSpPr/>
          <p:nvPr/>
        </p:nvSpPr>
        <p:spPr>
          <a:xfrm>
            <a:off x="9966960" y="2788920"/>
            <a:ext cx="731520" cy="731520"/>
          </a:xfrm>
          <a:prstGeom prst="ellipse">
            <a:avLst/>
          </a:prstGeom>
          <a:solidFill>
            <a:srgbClr val="6D6875"/>
          </a:solidFill>
        </p:spPr>
      </p:sp>
      <p:sp>
        <p:nvSpPr>
          <p:cNvPr id="26" name="Text 24"/>
          <p:cNvSpPr txBox="1"/>
          <p:nvPr/>
        </p:nvSpPr>
        <p:spPr>
          <a:xfrm>
            <a:off x="9966960" y="2788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6576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208008" y="4114800"/>
            <a:ext cx="224942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Oversees users, properties, tenancies &amp; reports</a:t>
            </a:r>
            <a:endParaRPr lang="en-US" sz="1250" dirty="0"/>
          </a:p>
        </p:txBody>
      </p:sp>
      <p:sp>
        <p:nvSpPr>
          <p:cNvPr id="29" name="Text 1"/>
          <p:cNvSpPr txBox="1"/>
          <p:nvPr/>
        </p:nvSpPr>
        <p:spPr>
          <a:xfrm>
            <a:off x="548640" y="384175"/>
            <a:ext cx="27432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C52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246888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Enhancements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3520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feature areas delivered across the project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3429000"/>
            <a:ext cx="310896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Enhancements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828800"/>
            <a:ext cx="548640" cy="548640"/>
          </a:xfrm>
          <a:prstGeom prst="ellipse">
            <a:avLst/>
          </a:prstGeom>
          <a:solidFill>
            <a:srgbClr val="2E8B57"/>
          </a:solidFill>
        </p:spPr>
      </p:sp>
      <p:sp>
        <p:nvSpPr>
          <p:cNvPr id="6" name="Text 4"/>
          <p:cNvSpPr txBox="1"/>
          <p:nvPr/>
        </p:nvSpPr>
        <p:spPr>
          <a:xfrm>
            <a:off x="896112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1881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Academic calendar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3317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 reads the UTeM calendar PDF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828800"/>
            <a:ext cx="548640" cy="548640"/>
          </a:xfrm>
          <a:prstGeom prst="ellipse">
            <a:avLst/>
          </a:prstGeom>
          <a:solidFill>
            <a:srgbClr val="0F2C52"/>
          </a:solidFill>
        </p:spPr>
      </p:sp>
      <p:sp>
        <p:nvSpPr>
          <p:cNvPr id="11" name="Text 9"/>
          <p:cNvSpPr txBox="1"/>
          <p:nvPr/>
        </p:nvSpPr>
        <p:spPr>
          <a:xfrm>
            <a:off x="6473952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5564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Progress bar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3317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status: pending → inspected → available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01568"/>
            <a:ext cx="548640" cy="548640"/>
          </a:xfrm>
          <a:prstGeom prst="ellipse">
            <a:avLst/>
          </a:prstGeom>
          <a:solidFill>
            <a:srgbClr val="1F6D45"/>
          </a:solidFill>
        </p:spPr>
      </p:sp>
      <p:sp>
        <p:nvSpPr>
          <p:cNvPr id="16" name="Text 14"/>
          <p:cNvSpPr txBox="1"/>
          <p:nvPr/>
        </p:nvSpPr>
        <p:spPr>
          <a:xfrm>
            <a:off x="896112" y="34015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32841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Gender &amp; race preference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0448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preferences on listings &amp; posts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14553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401568"/>
            <a:ext cx="548640" cy="548640"/>
          </a:xfrm>
          <a:prstGeom prst="ellipse">
            <a:avLst/>
          </a:prstGeom>
          <a:solidFill>
            <a:srgbClr val="D4A017"/>
          </a:solidFill>
        </p:spPr>
      </p:sp>
      <p:sp>
        <p:nvSpPr>
          <p:cNvPr id="21" name="Text 19"/>
          <p:cNvSpPr txBox="1"/>
          <p:nvPr/>
        </p:nvSpPr>
        <p:spPr>
          <a:xfrm>
            <a:off x="6473952" y="34015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2841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Contract merge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390448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signs; merged into one PDF</a:t>
            </a:r>
            <a:endParaRPr lang="en-US" sz="1250" dirty="0"/>
          </a:p>
        </p:txBody>
      </p:sp>
      <p:sp>
        <p:nvSpPr>
          <p:cNvPr id="24" name="Shape 2"/>
          <p:cNvSpPr/>
          <p:nvPr/>
        </p:nvSpPr>
        <p:spPr>
          <a:xfrm>
            <a:off x="3456305" y="471855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25" name="Shape 3"/>
          <p:cNvSpPr/>
          <p:nvPr/>
        </p:nvSpPr>
        <p:spPr>
          <a:xfrm>
            <a:off x="3712337" y="4974590"/>
            <a:ext cx="548640" cy="548640"/>
          </a:xfrm>
          <a:prstGeom prst="ellipse">
            <a:avLst/>
          </a:prstGeom>
          <a:solidFill>
            <a:srgbClr val="2E8B57"/>
          </a:solidFill>
        </p:spPr>
      </p:sp>
      <p:sp>
        <p:nvSpPr>
          <p:cNvPr id="26" name="Text 4"/>
          <p:cNvSpPr txBox="1"/>
          <p:nvPr/>
        </p:nvSpPr>
        <p:spPr>
          <a:xfrm>
            <a:off x="3712337" y="497459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5"/>
          <p:cNvSpPr txBox="1"/>
          <p:nvPr/>
        </p:nvSpPr>
        <p:spPr>
          <a:xfrm>
            <a:off x="4416425" y="486460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Deployment at live site</a:t>
            </a:r>
            <a:endParaRPr lang="en-US" sz="1700" dirty="0"/>
          </a:p>
        </p:txBody>
      </p:sp>
      <p:sp>
        <p:nvSpPr>
          <p:cNvPr id="28" name="Text 6"/>
          <p:cNvSpPr txBox="1"/>
          <p:nvPr/>
        </p:nvSpPr>
        <p:spPr>
          <a:xfrm>
            <a:off x="3758057" y="547751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render + aiven sql database for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Academic-calendar extraction (GPT-4o)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F6D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Tenancy durations track the real UTeM semester dates, not rough month maths.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676656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uploads the official UTeM academic-calendar PDF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 (OpenAI Responses API) reads the PDF and extracts semester start / end dates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human confirms the extracted dates before anything is saved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Durations resolve to real terms — 1 semester, or 2 semesters incl. the break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link to the UTeM calendar page sits beside the file picker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0F2C52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2286000"/>
            <a:ext cx="3977640" cy="3749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F2C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971800"/>
            <a:ext cx="352044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Contracts show semester + break dates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more approximate "8 months"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stays in the loop (no blind AI)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property status progress bar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F6D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Landlords and admins see exactly where a listing stands — automatically, not by asking.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676656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stages: Pending → Awaiting inspection → Inspection complete → Available now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is derived live from real data (status, assigned agent, inspection outcome) — never hand-set, so it cannot drift out of sync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rejected listing shows a distinct terminal "Rejected" state instead of a stuck bar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component renders a compact dot version on list/card views and a full stepped version on the property page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by the landlord’s own property page, the agent case page, and the admin review page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0F2C52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2286000"/>
            <a:ext cx="3977640" cy="3749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F2C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971800"/>
            <a:ext cx="352044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more "is my listing under review?" guessing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shared function — landlord, admin and agent views can never disagree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Exposed a real bug: admin could mark a listing live without agent inspection ever happening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Gender &amp; race preferences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F6D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matching preferences on listings and housemate posts.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676656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Landlords set a preferred tenant gender and race on each listing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set a preferred housemate gender / race on co-tenancy posts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Race supports multi-select (e.g. "Malay / Chinese") via a SET column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Preferences shown as clear badges on listings, cards and the property page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optional — "Any" means no restriction; posts stay non-editable after creation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0F2C52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2286000"/>
            <a:ext cx="3977640" cy="3749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F2C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971800"/>
            <a:ext cx="352044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properties.gender_preference, race_preference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co_tenancy_posts.* mirrors it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students.gender, students.race (identity)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 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Unified contract e-signing &amp; merge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F6D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party signs in-system — even co-tenants without an account.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676656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signatures merge into one contract PDF — no more wet-signed side copies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holds a button to merge the e-sign and wet sign contracts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Blank &amp; signed contracts share one template — a single source of truth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0F2C52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2286000"/>
            <a:ext cx="3977640" cy="3749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F2C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971800"/>
            <a:ext cx="352044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merged, fully e-signed PDF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for mixed-account groups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controls when links go out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C52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246888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3520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Functionality, integration, security &amp; user testing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3429000"/>
            <a:ext cx="310896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IT'S TESTED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testing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" y="1828800"/>
            <a:ext cx="548640" cy="548640"/>
          </a:xfrm>
          <a:prstGeom prst="ellipse">
            <a:avLst/>
          </a:prstGeom>
          <a:solidFill>
            <a:srgbClr val="2E8B57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96112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5564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Functionality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30428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 end-to-end — 7 flows, every role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73952" y="1828800"/>
            <a:ext cx="548640" cy="548640"/>
          </a:xfrm>
          <a:prstGeom prst="ellipse">
            <a:avLst/>
          </a:prstGeom>
          <a:solidFill>
            <a:srgbClr val="0F2C52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73952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5564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30428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PHPUnit against a real test database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96112" y="3401568"/>
            <a:ext cx="548640" cy="548640"/>
          </a:xfrm>
          <a:prstGeom prst="ellipse">
            <a:avLst/>
          </a:prstGeom>
          <a:solidFill>
            <a:srgbClr val="1F6D45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96112" y="34015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32841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87705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Auth, CSRF, SQLi, XSS, uploads, integrity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14553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73952" y="3401568"/>
            <a:ext cx="548640" cy="548640"/>
          </a:xfrm>
          <a:prstGeom prst="ellipse">
            <a:avLst/>
          </a:prstGeom>
          <a:solidFill>
            <a:srgbClr val="D4A017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73952" y="34015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2841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UAT &amp; USE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387705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participants · SUS &amp; USE questionnaires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End-to-end user flows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 drives a real browser through complete journeys for every role, end to end: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53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7472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specs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26364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6D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roles covered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05256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did: ran all 7 flows live against the Render production site, not just locally — and caught 2 real bugs doing it: the multi-party signing null-guard crash, and the Find Housemates estimate/date hint never updating on the live page.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7 automated flows, by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rental journey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8463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1 — Property listing: landlord registers a property (UC-01)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2 — Search, chat &amp; e-sign: student finds a listing, chats the agent, signs solo (UC-02–07)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3 — Group tenancy: 3 tenants, agent-uploaded wet-signed PDF, public verify (UC-08–11)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4 — Find Housemate: post, apply, form a group, 4-person e-sign (UC-12–16)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Verification, oversight &amp; edge cases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8463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5 — Agent verification: assignment → inspection → approve/reject a listing (UC-17–20)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6 — Admin oversight: dashboard, users, properties, tenancies, transfers, role guards (UC-21–26)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7 — Mixed signing: 4 tenants, 2 e-sign + 2 physical — the exact scenario behind this cycle’s null-guard fix (UC-27)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 logic against a real database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PHPUnit exercises the app's own code against a throwaway test database, not mocks: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6364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6D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areas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5256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pre-existing skip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did: while re-testing the contract-generation logic, found a real bug hiding in three separate code paths — tenancy end dates used naive "+N months" maths instead of the real semester calendar. Fixed, then verified live: 13 months from 14 Sep 2026 now correctly resolves to 16 Aug 2027, not the naive 14 Oct 2027.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 things PHPUnit actually checks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F6D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examples from the 13-test suite, not just a pass count.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676656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AuditLogTest::test_contract_update_records_old_and_new — editing a contract writes both the old and new values to the audit log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ContractCommissionTest::test_commission_is_one_month_rent_plus_6pct_sst — the agent’s commission is computed to the exact ringgit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SigningTest::test_full_mixed_signing_activates_contract — a mix of e-signed and physically-signed parties still correctly activates the contract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0F2C52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2286000"/>
            <a:ext cx="3977640" cy="3749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F2C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PROVES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971800"/>
            <a:ext cx="352044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Legal &amp; financial records are traceable, not just stored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Money calculations are exact, not "close enough"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exact bug this cycle fixed now has a permanent regression test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Non-functional &amp; security testing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F6D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protected surface was checked, not just the happy path.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676656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&amp; authorization — require_role() blocks every attempt to reach another role’s pages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CSRF — every state-changing form carries a token validated by verify_csrf()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 — all database access uses PDO prepared statements with bound parameters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 — all user-supplied data is escaped on output via e()/htmlspecialchars()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File-upload validation — uploads are type-checked and stored outside the executable path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0F2C52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2286000"/>
            <a:ext cx="3977640" cy="3749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F2C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971800"/>
            <a:ext cx="352044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Audited the admin property-approval path — found a real bypass letting listings go live with no agent inspection at all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the bypass; added a legitimate re-inspection action for already-live listings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9EE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Routed all 27 previously-unverified live properties through genuine agent inspection on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UAT &amp; usability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Acceptance testing (UAT)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8463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task lists per role — tenant &amp; landlord lead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task marked Completed / Stuck / Skipped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 new features: map pin, preferences, filters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 + demographics + prior-experience block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question branches to matching task section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did: distributed the Google Form, collected 16 real responses across all 4 roles — 92.2% task completion (107/116)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Usability survey (USE / SUS)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8463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questionnaire — Usefulness, Ease of Use, Ease of Learning, Satisfaction (1–7)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 — 10-item System Usability Scale (score /100)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 as a structured Google Form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Responses auto-collect to a linked Sheet for scoring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did: scored the real responses — mean SUS 77.0/100 ("Good", benchmark 68) · mean USE 5.03/7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All layers, one result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1B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designed test case passes against the implemented behaviour: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PHPUnit passing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7472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53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 passing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26364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6D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checks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2860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052560" y="239572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UAT task completion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real participants · mean SUS 77.0/100 (“Good”, benchmark 68) · mean USE score 5.03/7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each test actually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28800"/>
            <a:ext cx="548640" cy="548640"/>
          </a:xfrm>
          <a:prstGeom prst="ellipse">
            <a:avLst/>
          </a:prstGeom>
          <a:solidFill>
            <a:srgbClr val="2E8B57"/>
          </a:solidFill>
        </p:spPr>
      </p:sp>
      <p:sp>
        <p:nvSpPr>
          <p:cNvPr id="6" name="Text 4"/>
          <p:cNvSpPr txBox="1"/>
          <p:nvPr/>
        </p:nvSpPr>
        <p:spPr>
          <a:xfrm>
            <a:off x="896112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5564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Functionality passing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3317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whole discover-to-active-tenancy journey really works for real users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828800"/>
            <a:ext cx="548640" cy="548640"/>
          </a:xfrm>
          <a:prstGeom prst="ellipse">
            <a:avLst/>
          </a:prstGeom>
          <a:solidFill>
            <a:srgbClr val="0F2C52"/>
          </a:solidFill>
        </p:spPr>
      </p:sp>
      <p:sp>
        <p:nvSpPr>
          <p:cNvPr id="11" name="Text 9"/>
          <p:cNvSpPr txBox="1"/>
          <p:nvPr/>
        </p:nvSpPr>
        <p:spPr>
          <a:xfrm>
            <a:off x="6473952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5564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passing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3317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financial &amp; legal logic (contracts, commission, audit) is correct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01568"/>
            <a:ext cx="548640" cy="548640"/>
          </a:xfrm>
          <a:prstGeom prst="ellipse">
            <a:avLst/>
          </a:prstGeom>
          <a:solidFill>
            <a:srgbClr val="1F6D45"/>
          </a:solidFill>
        </p:spPr>
      </p:sp>
      <p:sp>
        <p:nvSpPr>
          <p:cNvPr id="16" name="Text 14"/>
          <p:cNvSpPr txBox="1"/>
          <p:nvPr/>
        </p:nvSpPr>
        <p:spPr>
          <a:xfrm>
            <a:off x="896112" y="34015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32841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passing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0448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 resists the common real-world attacks, not just the happy path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14553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blurRad="76200" dist="25400" dir="5400000" algn="bl" rotWithShape="0">
              <a:srgbClr val="9FB0C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401568"/>
            <a:ext cx="548640" cy="548640"/>
          </a:xfrm>
          <a:prstGeom prst="ellipse">
            <a:avLst/>
          </a:prstGeom>
          <a:solidFill>
            <a:srgbClr val="D4A017"/>
          </a:solidFill>
        </p:spPr>
      </p:sp>
      <p:sp>
        <p:nvSpPr>
          <p:cNvPr id="21" name="Text 19"/>
          <p:cNvSpPr txBox="1"/>
          <p:nvPr/>
        </p:nvSpPr>
        <p:spPr>
          <a:xfrm>
            <a:off x="6473952" y="34015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2841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UAT &amp; USE results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390448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people can actually use it — and rate it "Good" (SUS 77, USE 5.03/7)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C52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246888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3520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achieved, end to end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3429000"/>
            <a:ext cx="310896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was achieved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46504"/>
            <a:ext cx="310896" cy="310896"/>
          </a:xfrm>
          <a:prstGeom prst="ellipse">
            <a:avLst/>
          </a:prstGeom>
          <a:solidFill>
            <a:srgbClr val="2E8B57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7465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Smarter listing input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64592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pinpoint drawer with reverse-geocode &amp; link sync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69464"/>
            <a:ext cx="310896" cy="310896"/>
          </a:xfrm>
          <a:prstGeom prst="ellipse">
            <a:avLst/>
          </a:prstGeom>
          <a:solidFill>
            <a:srgbClr val="D4A017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25694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68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Accurate durations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46888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 calendar extraction → real UTeM semester dates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392424"/>
            <a:ext cx="310896" cy="310896"/>
          </a:xfrm>
          <a:prstGeom prst="ellipse">
            <a:avLst/>
          </a:prstGeom>
          <a:solidFill>
            <a:srgbClr val="1F6D45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" y="33924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91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Unified e-signing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29184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party signs in-system, merged into one PDF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215384"/>
            <a:ext cx="310896" cy="310896"/>
          </a:xfrm>
          <a:prstGeom prst="ellipse">
            <a:avLst/>
          </a:prstGeom>
          <a:solidFill>
            <a:srgbClr val="0F2C52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42153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14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Preference matching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114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&amp; multi-select race on listings and posts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038344"/>
            <a:ext cx="310896" cy="310896"/>
          </a:xfrm>
          <a:prstGeom prst="ellipse">
            <a:avLst/>
          </a:prstGeom>
          <a:solidFill>
            <a:srgbClr val="2E8B57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1520" y="50383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9377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Transparent status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93776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progress bar — caught a real verification-bypass bug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5861304"/>
            <a:ext cx="310896" cy="310896"/>
          </a:xfrm>
          <a:prstGeom prst="ellipse">
            <a:avLst/>
          </a:prstGeom>
          <a:solidFill>
            <a:srgbClr val="6D6875"/>
          </a:solidFill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1520" y="58613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760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Rigorously tested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576072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PHPUnit + 53 Playwright passing · 6 security checks · 16-participant UAT (SUS 77, "Good")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C52"/>
          </a:solidFill>
        </p:spPr>
      </p:sp>
      <p:sp>
        <p:nvSpPr>
          <p:cNvPr id="3" name="Shape 1"/>
          <p:cNvSpPr/>
          <p:nvPr/>
        </p:nvSpPr>
        <p:spPr>
          <a:xfrm>
            <a:off x="5394960" y="155448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2E8B57"/>
          </a:solidFill>
        </p:spPr>
      </p:sp>
      <p:sp>
        <p:nvSpPr>
          <p:cNvPr id="4" name="Text 2"/>
          <p:cNvSpPr txBox="1"/>
          <p:nvPr/>
        </p:nvSpPr>
        <p:spPr>
          <a:xfrm>
            <a:off x="5394960" y="155448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91840"/>
            <a:ext cx="10332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RentBridge  ·  Final Year Project (PSM 2)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9182</Words>
  <Application>WPS Presentation</Application>
  <PresentationFormat>On-screen Show (16:9)</PresentationFormat>
  <Paragraphs>443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Jia Xi Wong</cp:lastModifiedBy>
  <cp:revision>6</cp:revision>
  <dcterms:created xsi:type="dcterms:W3CDTF">2026-09-07T07:01:00Z</dcterms:created>
  <dcterms:modified xsi:type="dcterms:W3CDTF">2026-09-08T02:53:37Z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ABAB26F2FFEA44C88743CB6B412D8E1C_12</vt:lpwstr>
  </property>
</Properties>
</file>